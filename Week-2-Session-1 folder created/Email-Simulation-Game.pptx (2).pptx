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etrona Bold" charset="1" panose="00000000000000000000"/>
      <p:regular r:id="rId19"/>
    </p:embeddedFont>
    <p:embeddedFont>
      <p:font typeface="Inter" charset="1" panose="02000503000000020004"/>
      <p:regular r:id="rId20"/>
    </p:embeddedFont>
    <p:embeddedFont>
      <p:font typeface="Inter Bold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289697"/>
            <a:ext cx="8500472" cy="101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6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Email Simulation Game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4737049"/>
            <a:ext cx="2883246" cy="532800"/>
            <a:chOff x="0" y="0"/>
            <a:chExt cx="3844328" cy="710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44290" cy="710438"/>
            </a:xfrm>
            <a:custGeom>
              <a:avLst/>
              <a:gdLst/>
              <a:ahLst/>
              <a:cxnLst/>
              <a:rect r="r" b="b" t="t" l="l"/>
              <a:pathLst>
                <a:path h="710438" w="384429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717290" y="0"/>
                  </a:lnTo>
                  <a:cubicBezTo>
                    <a:pt x="3787394" y="0"/>
                    <a:pt x="3844290" y="56896"/>
                    <a:pt x="3844290" y="127000"/>
                  </a:cubicBezTo>
                  <a:lnTo>
                    <a:pt x="3844290" y="583438"/>
                  </a:lnTo>
                  <a:cubicBezTo>
                    <a:pt x="3844290" y="653542"/>
                    <a:pt x="3787394" y="710438"/>
                    <a:pt x="371729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62345" y="4745831"/>
            <a:ext cx="2543023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PHISHING AWARENESS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012406" y="4722762"/>
            <a:ext cx="2345979" cy="561384"/>
            <a:chOff x="0" y="0"/>
            <a:chExt cx="3127972" cy="7485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7883" cy="748538"/>
            </a:xfrm>
            <a:custGeom>
              <a:avLst/>
              <a:gdLst/>
              <a:ahLst/>
              <a:cxnLst/>
              <a:rect r="r" b="b" t="t" l="l"/>
              <a:pathLst>
                <a:path h="748538" w="3127883">
                  <a:moveTo>
                    <a:pt x="0" y="133350"/>
                  </a:moveTo>
                  <a:cubicBezTo>
                    <a:pt x="0" y="59690"/>
                    <a:pt x="60579" y="0"/>
                    <a:pt x="135001" y="0"/>
                  </a:cubicBezTo>
                  <a:lnTo>
                    <a:pt x="2992882" y="0"/>
                  </a:lnTo>
                  <a:lnTo>
                    <a:pt x="2992882" y="6350"/>
                  </a:lnTo>
                  <a:lnTo>
                    <a:pt x="2992882" y="0"/>
                  </a:lnTo>
                  <a:cubicBezTo>
                    <a:pt x="3067431" y="0"/>
                    <a:pt x="3127883" y="59690"/>
                    <a:pt x="3127883" y="133350"/>
                  </a:cubicBezTo>
                  <a:lnTo>
                    <a:pt x="3121533" y="133350"/>
                  </a:lnTo>
                  <a:lnTo>
                    <a:pt x="3127883" y="133350"/>
                  </a:lnTo>
                  <a:lnTo>
                    <a:pt x="3127883" y="615188"/>
                  </a:lnTo>
                  <a:lnTo>
                    <a:pt x="3121533" y="615188"/>
                  </a:lnTo>
                  <a:lnTo>
                    <a:pt x="3127883" y="615188"/>
                  </a:lnTo>
                  <a:cubicBezTo>
                    <a:pt x="3127883" y="688975"/>
                    <a:pt x="3067304" y="748538"/>
                    <a:pt x="2992882" y="748538"/>
                  </a:cubicBezTo>
                  <a:lnTo>
                    <a:pt x="2992882" y="742188"/>
                  </a:lnTo>
                  <a:lnTo>
                    <a:pt x="2992882" y="748538"/>
                  </a:lnTo>
                  <a:lnTo>
                    <a:pt x="135001" y="748538"/>
                  </a:lnTo>
                  <a:lnTo>
                    <a:pt x="135001" y="742188"/>
                  </a:lnTo>
                  <a:lnTo>
                    <a:pt x="135001" y="748538"/>
                  </a:lnTo>
                  <a:cubicBezTo>
                    <a:pt x="60579" y="748538"/>
                    <a:pt x="0" y="688848"/>
                    <a:pt x="0" y="615188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615188"/>
                  </a:lnTo>
                  <a:lnTo>
                    <a:pt x="6350" y="615188"/>
                  </a:lnTo>
                  <a:lnTo>
                    <a:pt x="12700" y="615188"/>
                  </a:lnTo>
                  <a:cubicBezTo>
                    <a:pt x="12700" y="681736"/>
                    <a:pt x="67437" y="735838"/>
                    <a:pt x="135001" y="735838"/>
                  </a:cubicBezTo>
                  <a:lnTo>
                    <a:pt x="2992882" y="735838"/>
                  </a:lnTo>
                  <a:cubicBezTo>
                    <a:pt x="3060573" y="735838"/>
                    <a:pt x="3115183" y="681736"/>
                    <a:pt x="3115183" y="615188"/>
                  </a:cubicBezTo>
                  <a:lnTo>
                    <a:pt x="3115183" y="133350"/>
                  </a:lnTo>
                  <a:cubicBezTo>
                    <a:pt x="3115183" y="66802"/>
                    <a:pt x="3060446" y="12700"/>
                    <a:pt x="2992882" y="12700"/>
                  </a:cubicBezTo>
                  <a:lnTo>
                    <a:pt x="135001" y="12700"/>
                  </a:lnTo>
                  <a:lnTo>
                    <a:pt x="135001" y="6350"/>
                  </a:lnTo>
                  <a:lnTo>
                    <a:pt x="135001" y="12700"/>
                  </a:lnTo>
                  <a:cubicBezTo>
                    <a:pt x="67437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196801" y="4745831"/>
            <a:ext cx="1977180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700">
                <a:solidFill>
                  <a:srgbClr val="6237C8"/>
                </a:solidFill>
                <a:latin typeface="Inter"/>
                <a:ea typeface="Inter"/>
                <a:cs typeface="Inter"/>
                <a:sym typeface="Inter"/>
              </a:rPr>
              <a:t>AGES 50 &amp; ABOVE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5512594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 educational cyber-safety game designed specifically for older adults who use email, online banking, and shopping websites — helping you stay safe online with confidence.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3283" y="620163"/>
            <a:ext cx="6786115" cy="854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999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Who Is This Game For?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3283" y="1985067"/>
            <a:ext cx="10330310" cy="5853713"/>
            <a:chOff x="0" y="0"/>
            <a:chExt cx="13773747" cy="780495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773786" cy="7804912"/>
            </a:xfrm>
            <a:custGeom>
              <a:avLst/>
              <a:gdLst/>
              <a:ahLst/>
              <a:cxnLst/>
              <a:rect r="r" b="b" t="t" l="l"/>
              <a:pathLst>
                <a:path h="7804912" w="13773786">
                  <a:moveTo>
                    <a:pt x="0" y="0"/>
                  </a:moveTo>
                  <a:lnTo>
                    <a:pt x="13773786" y="0"/>
                  </a:lnTo>
                  <a:lnTo>
                    <a:pt x="13773786" y="7804912"/>
                  </a:lnTo>
                  <a:lnTo>
                    <a:pt x="0" y="7804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" r="0" b="-1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55809" y="4168083"/>
            <a:ext cx="5298129" cy="143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game is designed for </a:t>
            </a:r>
            <a:r>
              <a:rPr lang="en-US" sz="18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adults aged 50 and above</a:t>
            </a: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who use everyday internet services — but may not have received formal cyber-safety training.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995" y="8261747"/>
            <a:ext cx="3933082" cy="1371600"/>
            <a:chOff x="0" y="0"/>
            <a:chExt cx="5244109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5205984" cy="1790700"/>
            </a:xfrm>
            <a:custGeom>
              <a:avLst/>
              <a:gdLst/>
              <a:ahLst/>
              <a:cxnLst/>
              <a:rect r="r" b="b" t="t" l="l"/>
              <a:pathLst>
                <a:path h="1790700" w="5205984">
                  <a:moveTo>
                    <a:pt x="0" y="182880"/>
                  </a:moveTo>
                  <a:cubicBezTo>
                    <a:pt x="0" y="81915"/>
                    <a:pt x="83058" y="0"/>
                    <a:pt x="185420" y="0"/>
                  </a:cubicBezTo>
                  <a:lnTo>
                    <a:pt x="5020564" y="0"/>
                  </a:lnTo>
                  <a:cubicBezTo>
                    <a:pt x="5122926" y="0"/>
                    <a:pt x="5205984" y="81915"/>
                    <a:pt x="5205984" y="182880"/>
                  </a:cubicBezTo>
                  <a:lnTo>
                    <a:pt x="5205984" y="1607820"/>
                  </a:lnTo>
                  <a:cubicBezTo>
                    <a:pt x="5205984" y="1708785"/>
                    <a:pt x="5122926" y="1790700"/>
                    <a:pt x="5020564" y="1790700"/>
                  </a:cubicBezTo>
                  <a:lnTo>
                    <a:pt x="185420" y="1790700"/>
                  </a:lnTo>
                  <a:cubicBezTo>
                    <a:pt x="83058" y="1790700"/>
                    <a:pt x="0" y="1708785"/>
                    <a:pt x="0" y="1607820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44084" cy="1828800"/>
            </a:xfrm>
            <a:custGeom>
              <a:avLst/>
              <a:gdLst/>
              <a:ahLst/>
              <a:cxnLst/>
              <a:rect r="r" b="b" t="t" l="l"/>
              <a:pathLst>
                <a:path h="1828800" w="5244084">
                  <a:moveTo>
                    <a:pt x="0" y="201930"/>
                  </a:moveTo>
                  <a:cubicBezTo>
                    <a:pt x="0" y="90170"/>
                    <a:pt x="91821" y="0"/>
                    <a:pt x="204470" y="0"/>
                  </a:cubicBezTo>
                  <a:lnTo>
                    <a:pt x="5039614" y="0"/>
                  </a:lnTo>
                  <a:lnTo>
                    <a:pt x="5039614" y="19050"/>
                  </a:lnTo>
                  <a:lnTo>
                    <a:pt x="5039614" y="0"/>
                  </a:lnTo>
                  <a:cubicBezTo>
                    <a:pt x="5152263" y="0"/>
                    <a:pt x="5244084" y="90170"/>
                    <a:pt x="5244084" y="201930"/>
                  </a:cubicBezTo>
                  <a:lnTo>
                    <a:pt x="5225034" y="201930"/>
                  </a:lnTo>
                  <a:lnTo>
                    <a:pt x="5244084" y="201930"/>
                  </a:lnTo>
                  <a:lnTo>
                    <a:pt x="5244084" y="1626870"/>
                  </a:lnTo>
                  <a:lnTo>
                    <a:pt x="5225034" y="1626870"/>
                  </a:lnTo>
                  <a:lnTo>
                    <a:pt x="5244084" y="1626870"/>
                  </a:lnTo>
                  <a:cubicBezTo>
                    <a:pt x="5244084" y="1738630"/>
                    <a:pt x="5152263" y="1828800"/>
                    <a:pt x="5039614" y="1828800"/>
                  </a:cubicBezTo>
                  <a:lnTo>
                    <a:pt x="5039614" y="1809750"/>
                  </a:lnTo>
                  <a:lnTo>
                    <a:pt x="5039614" y="1828800"/>
                  </a:lnTo>
                  <a:lnTo>
                    <a:pt x="204470" y="1828800"/>
                  </a:lnTo>
                  <a:lnTo>
                    <a:pt x="204470" y="1809750"/>
                  </a:lnTo>
                  <a:lnTo>
                    <a:pt x="204470" y="1828800"/>
                  </a:lnTo>
                  <a:cubicBezTo>
                    <a:pt x="91821" y="1828800"/>
                    <a:pt x="0" y="1738630"/>
                    <a:pt x="0" y="162687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626870"/>
                  </a:lnTo>
                  <a:lnTo>
                    <a:pt x="19050" y="1626870"/>
                  </a:lnTo>
                  <a:lnTo>
                    <a:pt x="38100" y="1626870"/>
                  </a:lnTo>
                  <a:cubicBezTo>
                    <a:pt x="38100" y="1717167"/>
                    <a:pt x="112395" y="1790700"/>
                    <a:pt x="204470" y="1790700"/>
                  </a:cubicBezTo>
                  <a:lnTo>
                    <a:pt x="5039614" y="1790700"/>
                  </a:lnTo>
                  <a:cubicBezTo>
                    <a:pt x="5131689" y="1790700"/>
                    <a:pt x="5205984" y="1717040"/>
                    <a:pt x="5205984" y="1626870"/>
                  </a:cubicBezTo>
                  <a:lnTo>
                    <a:pt x="5205984" y="201930"/>
                  </a:lnTo>
                  <a:cubicBezTo>
                    <a:pt x="5205984" y="111633"/>
                    <a:pt x="5131689" y="38100"/>
                    <a:pt x="5039614" y="38100"/>
                  </a:cubicBezTo>
                  <a:lnTo>
                    <a:pt x="204470" y="38100"/>
                  </a:lnTo>
                  <a:lnTo>
                    <a:pt x="204470" y="19050"/>
                  </a:lnTo>
                  <a:lnTo>
                    <a:pt x="204470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4708" y="8276034"/>
            <a:ext cx="114300" cy="1343025"/>
            <a:chOff x="0" y="0"/>
            <a:chExt cx="152400" cy="1790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714500"/>
                  </a:lnTo>
                  <a:cubicBezTo>
                    <a:pt x="152400" y="1756537"/>
                    <a:pt x="118237" y="1790700"/>
                    <a:pt x="76200" y="1790700"/>
                  </a:cubicBezTo>
                  <a:cubicBezTo>
                    <a:pt x="34163" y="1790700"/>
                    <a:pt x="0" y="1756537"/>
                    <a:pt x="0" y="1714500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92288" y="8520265"/>
            <a:ext cx="3292231" cy="83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🏠</a:t>
            </a:r>
            <a:r>
              <a:rPr lang="en-US" sz="24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Home Internet Users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27869" y="8261747"/>
            <a:ext cx="3933082" cy="1371600"/>
            <a:chOff x="0" y="0"/>
            <a:chExt cx="5244109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5205984" cy="1790700"/>
            </a:xfrm>
            <a:custGeom>
              <a:avLst/>
              <a:gdLst/>
              <a:ahLst/>
              <a:cxnLst/>
              <a:rect r="r" b="b" t="t" l="l"/>
              <a:pathLst>
                <a:path h="1790700" w="5205984">
                  <a:moveTo>
                    <a:pt x="0" y="182880"/>
                  </a:moveTo>
                  <a:cubicBezTo>
                    <a:pt x="0" y="81915"/>
                    <a:pt x="83058" y="0"/>
                    <a:pt x="185420" y="0"/>
                  </a:cubicBezTo>
                  <a:lnTo>
                    <a:pt x="5020564" y="0"/>
                  </a:lnTo>
                  <a:cubicBezTo>
                    <a:pt x="5122926" y="0"/>
                    <a:pt x="5205984" y="81915"/>
                    <a:pt x="5205984" y="182880"/>
                  </a:cubicBezTo>
                  <a:lnTo>
                    <a:pt x="5205984" y="1607820"/>
                  </a:lnTo>
                  <a:cubicBezTo>
                    <a:pt x="5205984" y="1708785"/>
                    <a:pt x="5122926" y="1790700"/>
                    <a:pt x="5020564" y="1790700"/>
                  </a:cubicBezTo>
                  <a:lnTo>
                    <a:pt x="185420" y="1790700"/>
                  </a:lnTo>
                  <a:cubicBezTo>
                    <a:pt x="83058" y="1790700"/>
                    <a:pt x="0" y="1708785"/>
                    <a:pt x="0" y="1607820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4084" cy="1828800"/>
            </a:xfrm>
            <a:custGeom>
              <a:avLst/>
              <a:gdLst/>
              <a:ahLst/>
              <a:cxnLst/>
              <a:rect r="r" b="b" t="t" l="l"/>
              <a:pathLst>
                <a:path h="1828800" w="5244084">
                  <a:moveTo>
                    <a:pt x="0" y="201930"/>
                  </a:moveTo>
                  <a:cubicBezTo>
                    <a:pt x="0" y="90170"/>
                    <a:pt x="91821" y="0"/>
                    <a:pt x="204470" y="0"/>
                  </a:cubicBezTo>
                  <a:lnTo>
                    <a:pt x="5039614" y="0"/>
                  </a:lnTo>
                  <a:lnTo>
                    <a:pt x="5039614" y="19050"/>
                  </a:lnTo>
                  <a:lnTo>
                    <a:pt x="5039614" y="0"/>
                  </a:lnTo>
                  <a:cubicBezTo>
                    <a:pt x="5152263" y="0"/>
                    <a:pt x="5244084" y="90170"/>
                    <a:pt x="5244084" y="201930"/>
                  </a:cubicBezTo>
                  <a:lnTo>
                    <a:pt x="5225034" y="201930"/>
                  </a:lnTo>
                  <a:lnTo>
                    <a:pt x="5244084" y="201930"/>
                  </a:lnTo>
                  <a:lnTo>
                    <a:pt x="5244084" y="1626870"/>
                  </a:lnTo>
                  <a:lnTo>
                    <a:pt x="5225034" y="1626870"/>
                  </a:lnTo>
                  <a:lnTo>
                    <a:pt x="5244084" y="1626870"/>
                  </a:lnTo>
                  <a:cubicBezTo>
                    <a:pt x="5244084" y="1738630"/>
                    <a:pt x="5152263" y="1828800"/>
                    <a:pt x="5039614" y="1828800"/>
                  </a:cubicBezTo>
                  <a:lnTo>
                    <a:pt x="5039614" y="1809750"/>
                  </a:lnTo>
                  <a:lnTo>
                    <a:pt x="5039614" y="1828800"/>
                  </a:lnTo>
                  <a:lnTo>
                    <a:pt x="204470" y="1828800"/>
                  </a:lnTo>
                  <a:lnTo>
                    <a:pt x="204470" y="1809750"/>
                  </a:lnTo>
                  <a:lnTo>
                    <a:pt x="204470" y="1828800"/>
                  </a:lnTo>
                  <a:cubicBezTo>
                    <a:pt x="91821" y="1828800"/>
                    <a:pt x="0" y="1738630"/>
                    <a:pt x="0" y="162687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626870"/>
                  </a:lnTo>
                  <a:lnTo>
                    <a:pt x="19050" y="1626870"/>
                  </a:lnTo>
                  <a:lnTo>
                    <a:pt x="38100" y="1626870"/>
                  </a:lnTo>
                  <a:cubicBezTo>
                    <a:pt x="38100" y="1717167"/>
                    <a:pt x="112395" y="1790700"/>
                    <a:pt x="204470" y="1790700"/>
                  </a:cubicBezTo>
                  <a:lnTo>
                    <a:pt x="5039614" y="1790700"/>
                  </a:lnTo>
                  <a:cubicBezTo>
                    <a:pt x="5131689" y="1790700"/>
                    <a:pt x="5205984" y="1717040"/>
                    <a:pt x="5205984" y="1626870"/>
                  </a:cubicBezTo>
                  <a:lnTo>
                    <a:pt x="5205984" y="201930"/>
                  </a:lnTo>
                  <a:cubicBezTo>
                    <a:pt x="5205984" y="111633"/>
                    <a:pt x="5131689" y="38100"/>
                    <a:pt x="5039614" y="38100"/>
                  </a:cubicBezTo>
                  <a:lnTo>
                    <a:pt x="204470" y="38100"/>
                  </a:lnTo>
                  <a:lnTo>
                    <a:pt x="204470" y="19050"/>
                  </a:lnTo>
                  <a:lnTo>
                    <a:pt x="204470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113582" y="8276034"/>
            <a:ext cx="114300" cy="1343025"/>
            <a:chOff x="0" y="0"/>
            <a:chExt cx="152400" cy="1790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714500"/>
                  </a:lnTo>
                  <a:cubicBezTo>
                    <a:pt x="152400" y="1756537"/>
                    <a:pt x="118237" y="1790700"/>
                    <a:pt x="76200" y="1790700"/>
                  </a:cubicBezTo>
                  <a:cubicBezTo>
                    <a:pt x="34163" y="1790700"/>
                    <a:pt x="0" y="1756537"/>
                    <a:pt x="0" y="1714500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491162" y="8520265"/>
            <a:ext cx="3292231" cy="83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🏦</a:t>
            </a:r>
            <a:r>
              <a:rPr lang="en-US" sz="24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Online Banking Users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26744" y="8261747"/>
            <a:ext cx="3933082" cy="1371600"/>
            <a:chOff x="0" y="0"/>
            <a:chExt cx="5244109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5205984" cy="1790700"/>
            </a:xfrm>
            <a:custGeom>
              <a:avLst/>
              <a:gdLst/>
              <a:ahLst/>
              <a:cxnLst/>
              <a:rect r="r" b="b" t="t" l="l"/>
              <a:pathLst>
                <a:path h="1790700" w="5205984">
                  <a:moveTo>
                    <a:pt x="0" y="182880"/>
                  </a:moveTo>
                  <a:cubicBezTo>
                    <a:pt x="0" y="81915"/>
                    <a:pt x="83058" y="0"/>
                    <a:pt x="185420" y="0"/>
                  </a:cubicBezTo>
                  <a:lnTo>
                    <a:pt x="5020564" y="0"/>
                  </a:lnTo>
                  <a:cubicBezTo>
                    <a:pt x="5122926" y="0"/>
                    <a:pt x="5205984" y="81915"/>
                    <a:pt x="5205984" y="182880"/>
                  </a:cubicBezTo>
                  <a:lnTo>
                    <a:pt x="5205984" y="1607820"/>
                  </a:lnTo>
                  <a:cubicBezTo>
                    <a:pt x="5205984" y="1708785"/>
                    <a:pt x="5122926" y="1790700"/>
                    <a:pt x="5020564" y="1790700"/>
                  </a:cubicBezTo>
                  <a:lnTo>
                    <a:pt x="185420" y="1790700"/>
                  </a:lnTo>
                  <a:cubicBezTo>
                    <a:pt x="83058" y="1790700"/>
                    <a:pt x="0" y="1708785"/>
                    <a:pt x="0" y="1607820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44084" cy="1828800"/>
            </a:xfrm>
            <a:custGeom>
              <a:avLst/>
              <a:gdLst/>
              <a:ahLst/>
              <a:cxnLst/>
              <a:rect r="r" b="b" t="t" l="l"/>
              <a:pathLst>
                <a:path h="1828800" w="5244084">
                  <a:moveTo>
                    <a:pt x="0" y="201930"/>
                  </a:moveTo>
                  <a:cubicBezTo>
                    <a:pt x="0" y="90170"/>
                    <a:pt x="91821" y="0"/>
                    <a:pt x="204470" y="0"/>
                  </a:cubicBezTo>
                  <a:lnTo>
                    <a:pt x="5039614" y="0"/>
                  </a:lnTo>
                  <a:lnTo>
                    <a:pt x="5039614" y="19050"/>
                  </a:lnTo>
                  <a:lnTo>
                    <a:pt x="5039614" y="0"/>
                  </a:lnTo>
                  <a:cubicBezTo>
                    <a:pt x="5152263" y="0"/>
                    <a:pt x="5244084" y="90170"/>
                    <a:pt x="5244084" y="201930"/>
                  </a:cubicBezTo>
                  <a:lnTo>
                    <a:pt x="5225034" y="201930"/>
                  </a:lnTo>
                  <a:lnTo>
                    <a:pt x="5244084" y="201930"/>
                  </a:lnTo>
                  <a:lnTo>
                    <a:pt x="5244084" y="1626870"/>
                  </a:lnTo>
                  <a:lnTo>
                    <a:pt x="5225034" y="1626870"/>
                  </a:lnTo>
                  <a:lnTo>
                    <a:pt x="5244084" y="1626870"/>
                  </a:lnTo>
                  <a:cubicBezTo>
                    <a:pt x="5244084" y="1738630"/>
                    <a:pt x="5152263" y="1828800"/>
                    <a:pt x="5039614" y="1828800"/>
                  </a:cubicBezTo>
                  <a:lnTo>
                    <a:pt x="5039614" y="1809750"/>
                  </a:lnTo>
                  <a:lnTo>
                    <a:pt x="5039614" y="1828800"/>
                  </a:lnTo>
                  <a:lnTo>
                    <a:pt x="204470" y="1828800"/>
                  </a:lnTo>
                  <a:lnTo>
                    <a:pt x="204470" y="1809750"/>
                  </a:lnTo>
                  <a:lnTo>
                    <a:pt x="204470" y="1828800"/>
                  </a:lnTo>
                  <a:cubicBezTo>
                    <a:pt x="91821" y="1828800"/>
                    <a:pt x="0" y="1738630"/>
                    <a:pt x="0" y="162687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626870"/>
                  </a:lnTo>
                  <a:lnTo>
                    <a:pt x="19050" y="1626870"/>
                  </a:lnTo>
                  <a:lnTo>
                    <a:pt x="38100" y="1626870"/>
                  </a:lnTo>
                  <a:cubicBezTo>
                    <a:pt x="38100" y="1717167"/>
                    <a:pt x="112395" y="1790700"/>
                    <a:pt x="204470" y="1790700"/>
                  </a:cubicBezTo>
                  <a:lnTo>
                    <a:pt x="5039614" y="1790700"/>
                  </a:lnTo>
                  <a:cubicBezTo>
                    <a:pt x="5131689" y="1790700"/>
                    <a:pt x="5205984" y="1717040"/>
                    <a:pt x="5205984" y="1626870"/>
                  </a:cubicBezTo>
                  <a:lnTo>
                    <a:pt x="5205984" y="201930"/>
                  </a:lnTo>
                  <a:cubicBezTo>
                    <a:pt x="5205984" y="111633"/>
                    <a:pt x="5131689" y="38100"/>
                    <a:pt x="5039614" y="38100"/>
                  </a:cubicBezTo>
                  <a:lnTo>
                    <a:pt x="204470" y="38100"/>
                  </a:lnTo>
                  <a:lnTo>
                    <a:pt x="204470" y="19050"/>
                  </a:lnTo>
                  <a:lnTo>
                    <a:pt x="204470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212456" y="8276034"/>
            <a:ext cx="114300" cy="1343025"/>
            <a:chOff x="0" y="0"/>
            <a:chExt cx="152400" cy="1790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714500"/>
                  </a:lnTo>
                  <a:cubicBezTo>
                    <a:pt x="152400" y="1756537"/>
                    <a:pt x="118237" y="1790700"/>
                    <a:pt x="76200" y="1790700"/>
                  </a:cubicBezTo>
                  <a:cubicBezTo>
                    <a:pt x="34163" y="1790700"/>
                    <a:pt x="0" y="1756537"/>
                    <a:pt x="0" y="1714500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590037" y="8520265"/>
            <a:ext cx="3228527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📧</a:t>
            </a:r>
            <a:r>
              <a:rPr lang="en-US" sz="24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Email Users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325627" y="8261747"/>
            <a:ext cx="3933234" cy="1371600"/>
            <a:chOff x="0" y="0"/>
            <a:chExt cx="5244313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5206238" cy="1790700"/>
            </a:xfrm>
            <a:custGeom>
              <a:avLst/>
              <a:gdLst/>
              <a:ahLst/>
              <a:cxnLst/>
              <a:rect r="r" b="b" t="t" l="l"/>
              <a:pathLst>
                <a:path h="1790700" w="5206238">
                  <a:moveTo>
                    <a:pt x="0" y="182880"/>
                  </a:moveTo>
                  <a:cubicBezTo>
                    <a:pt x="0" y="81915"/>
                    <a:pt x="83058" y="0"/>
                    <a:pt x="185420" y="0"/>
                  </a:cubicBezTo>
                  <a:lnTo>
                    <a:pt x="5020818" y="0"/>
                  </a:lnTo>
                  <a:cubicBezTo>
                    <a:pt x="5123180" y="0"/>
                    <a:pt x="5206238" y="81915"/>
                    <a:pt x="5206238" y="182880"/>
                  </a:cubicBezTo>
                  <a:lnTo>
                    <a:pt x="5206238" y="1607820"/>
                  </a:lnTo>
                  <a:cubicBezTo>
                    <a:pt x="5206238" y="1708785"/>
                    <a:pt x="5123180" y="1790700"/>
                    <a:pt x="5020818" y="1790700"/>
                  </a:cubicBezTo>
                  <a:lnTo>
                    <a:pt x="185420" y="1790700"/>
                  </a:lnTo>
                  <a:cubicBezTo>
                    <a:pt x="83058" y="1790700"/>
                    <a:pt x="0" y="1708785"/>
                    <a:pt x="0" y="1607820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44338" cy="1828800"/>
            </a:xfrm>
            <a:custGeom>
              <a:avLst/>
              <a:gdLst/>
              <a:ahLst/>
              <a:cxnLst/>
              <a:rect r="r" b="b" t="t" l="l"/>
              <a:pathLst>
                <a:path h="1828800" w="5244338">
                  <a:moveTo>
                    <a:pt x="0" y="201930"/>
                  </a:moveTo>
                  <a:cubicBezTo>
                    <a:pt x="0" y="90170"/>
                    <a:pt x="91821" y="0"/>
                    <a:pt x="204470" y="0"/>
                  </a:cubicBezTo>
                  <a:lnTo>
                    <a:pt x="5039868" y="0"/>
                  </a:lnTo>
                  <a:lnTo>
                    <a:pt x="5039868" y="19050"/>
                  </a:lnTo>
                  <a:lnTo>
                    <a:pt x="5039868" y="0"/>
                  </a:lnTo>
                  <a:cubicBezTo>
                    <a:pt x="5152517" y="0"/>
                    <a:pt x="5244338" y="90170"/>
                    <a:pt x="5244338" y="201930"/>
                  </a:cubicBezTo>
                  <a:lnTo>
                    <a:pt x="5225288" y="201930"/>
                  </a:lnTo>
                  <a:lnTo>
                    <a:pt x="5244338" y="201930"/>
                  </a:lnTo>
                  <a:lnTo>
                    <a:pt x="5244338" y="1626870"/>
                  </a:lnTo>
                  <a:lnTo>
                    <a:pt x="5225288" y="1626870"/>
                  </a:lnTo>
                  <a:lnTo>
                    <a:pt x="5244338" y="1626870"/>
                  </a:lnTo>
                  <a:cubicBezTo>
                    <a:pt x="5244338" y="1738630"/>
                    <a:pt x="5152517" y="1828800"/>
                    <a:pt x="5039868" y="1828800"/>
                  </a:cubicBezTo>
                  <a:lnTo>
                    <a:pt x="5039868" y="1809750"/>
                  </a:lnTo>
                  <a:lnTo>
                    <a:pt x="5039868" y="1828800"/>
                  </a:lnTo>
                  <a:lnTo>
                    <a:pt x="204470" y="1828800"/>
                  </a:lnTo>
                  <a:lnTo>
                    <a:pt x="204470" y="1809750"/>
                  </a:lnTo>
                  <a:lnTo>
                    <a:pt x="204470" y="1828800"/>
                  </a:lnTo>
                  <a:cubicBezTo>
                    <a:pt x="91821" y="1828800"/>
                    <a:pt x="0" y="1738630"/>
                    <a:pt x="0" y="162687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626870"/>
                  </a:lnTo>
                  <a:lnTo>
                    <a:pt x="19050" y="1626870"/>
                  </a:lnTo>
                  <a:lnTo>
                    <a:pt x="38100" y="1626870"/>
                  </a:lnTo>
                  <a:cubicBezTo>
                    <a:pt x="38100" y="1717167"/>
                    <a:pt x="112395" y="1790700"/>
                    <a:pt x="204470" y="1790700"/>
                  </a:cubicBezTo>
                  <a:lnTo>
                    <a:pt x="5039868" y="1790700"/>
                  </a:lnTo>
                  <a:cubicBezTo>
                    <a:pt x="5131943" y="1790700"/>
                    <a:pt x="5206238" y="1717040"/>
                    <a:pt x="5206238" y="1626870"/>
                  </a:cubicBezTo>
                  <a:lnTo>
                    <a:pt x="5206238" y="201930"/>
                  </a:lnTo>
                  <a:cubicBezTo>
                    <a:pt x="5206238" y="111633"/>
                    <a:pt x="5131943" y="38100"/>
                    <a:pt x="5039868" y="38100"/>
                  </a:cubicBezTo>
                  <a:lnTo>
                    <a:pt x="204470" y="38100"/>
                  </a:lnTo>
                  <a:lnTo>
                    <a:pt x="204470" y="19050"/>
                  </a:lnTo>
                  <a:lnTo>
                    <a:pt x="204470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311340" y="8276034"/>
            <a:ext cx="114300" cy="1343025"/>
            <a:chOff x="0" y="0"/>
            <a:chExt cx="152400" cy="1790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714500"/>
                  </a:lnTo>
                  <a:cubicBezTo>
                    <a:pt x="152400" y="1756537"/>
                    <a:pt x="118237" y="1790700"/>
                    <a:pt x="76200" y="1790700"/>
                  </a:cubicBezTo>
                  <a:cubicBezTo>
                    <a:pt x="34163" y="1790700"/>
                    <a:pt x="0" y="1756537"/>
                    <a:pt x="0" y="1714500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3688911" y="8520265"/>
            <a:ext cx="3228527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🛒</a:t>
            </a:r>
            <a:r>
              <a:rPr lang="en-US" sz="24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Online Shoppers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26261" y="809330"/>
            <a:ext cx="6822434" cy="89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9"/>
              </a:lnSpc>
            </a:pPr>
            <a:r>
              <a:rPr lang="en-US" sz="5299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What You Will Learn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6261" y="1968551"/>
            <a:ext cx="9693478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game teaches you to recognise the warning signs of a </a:t>
            </a:r>
            <a:r>
              <a:rPr lang="en-US" sz="19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phishing attack</a:t>
            </a: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emails designed to trick you into giving away personal information.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21498" y="3009157"/>
            <a:ext cx="9703003" cy="1453163"/>
            <a:chOff x="0" y="0"/>
            <a:chExt cx="12937338" cy="1937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12924663" cy="1924812"/>
            </a:xfrm>
            <a:custGeom>
              <a:avLst/>
              <a:gdLst/>
              <a:ahLst/>
              <a:cxnLst/>
              <a:rect r="r" b="b" t="t" l="l"/>
              <a:pathLst>
                <a:path h="1924812" w="12924663">
                  <a:moveTo>
                    <a:pt x="0" y="138938"/>
                  </a:moveTo>
                  <a:cubicBezTo>
                    <a:pt x="0" y="62230"/>
                    <a:pt x="62611" y="0"/>
                    <a:pt x="139700" y="0"/>
                  </a:cubicBezTo>
                  <a:lnTo>
                    <a:pt x="12784963" y="0"/>
                  </a:lnTo>
                  <a:cubicBezTo>
                    <a:pt x="12862179" y="0"/>
                    <a:pt x="12924663" y="62230"/>
                    <a:pt x="12924663" y="138938"/>
                  </a:cubicBezTo>
                  <a:lnTo>
                    <a:pt x="12924663" y="1785874"/>
                  </a:lnTo>
                  <a:cubicBezTo>
                    <a:pt x="12924663" y="1862582"/>
                    <a:pt x="12862052" y="1924812"/>
                    <a:pt x="12784963" y="1924812"/>
                  </a:cubicBezTo>
                  <a:lnTo>
                    <a:pt x="139700" y="1924812"/>
                  </a:lnTo>
                  <a:cubicBezTo>
                    <a:pt x="62484" y="1924812"/>
                    <a:pt x="0" y="1862582"/>
                    <a:pt x="0" y="1785874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37363" cy="1937512"/>
            </a:xfrm>
            <a:custGeom>
              <a:avLst/>
              <a:gdLst/>
              <a:ahLst/>
              <a:cxnLst/>
              <a:rect r="r" b="b" t="t" l="l"/>
              <a:pathLst>
                <a:path h="1937512" w="12937363">
                  <a:moveTo>
                    <a:pt x="0" y="145288"/>
                  </a:moveTo>
                  <a:cubicBezTo>
                    <a:pt x="0" y="65024"/>
                    <a:pt x="65405" y="0"/>
                    <a:pt x="146050" y="0"/>
                  </a:cubicBezTo>
                  <a:lnTo>
                    <a:pt x="12791313" y="0"/>
                  </a:lnTo>
                  <a:lnTo>
                    <a:pt x="12791313" y="6350"/>
                  </a:lnTo>
                  <a:lnTo>
                    <a:pt x="12791313" y="0"/>
                  </a:lnTo>
                  <a:cubicBezTo>
                    <a:pt x="12871958" y="0"/>
                    <a:pt x="12937363" y="65024"/>
                    <a:pt x="12937363" y="145288"/>
                  </a:cubicBezTo>
                  <a:lnTo>
                    <a:pt x="12931013" y="145288"/>
                  </a:lnTo>
                  <a:lnTo>
                    <a:pt x="12937363" y="145288"/>
                  </a:lnTo>
                  <a:lnTo>
                    <a:pt x="12937363" y="1792224"/>
                  </a:lnTo>
                  <a:lnTo>
                    <a:pt x="12931013" y="1792224"/>
                  </a:lnTo>
                  <a:lnTo>
                    <a:pt x="12937363" y="1792224"/>
                  </a:lnTo>
                  <a:cubicBezTo>
                    <a:pt x="12937363" y="1872488"/>
                    <a:pt x="12871958" y="1937512"/>
                    <a:pt x="12791313" y="1937512"/>
                  </a:cubicBezTo>
                  <a:lnTo>
                    <a:pt x="12791313" y="1931162"/>
                  </a:lnTo>
                  <a:lnTo>
                    <a:pt x="12791313" y="1937512"/>
                  </a:lnTo>
                  <a:lnTo>
                    <a:pt x="146050" y="1937512"/>
                  </a:lnTo>
                  <a:lnTo>
                    <a:pt x="146050" y="1931162"/>
                  </a:lnTo>
                  <a:lnTo>
                    <a:pt x="146050" y="1937512"/>
                  </a:lnTo>
                  <a:cubicBezTo>
                    <a:pt x="65405" y="1937512"/>
                    <a:pt x="0" y="1872488"/>
                    <a:pt x="0" y="1792224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1792224"/>
                  </a:lnTo>
                  <a:lnTo>
                    <a:pt x="6350" y="1792224"/>
                  </a:lnTo>
                  <a:lnTo>
                    <a:pt x="12700" y="1792224"/>
                  </a:lnTo>
                  <a:cubicBezTo>
                    <a:pt x="12700" y="1865376"/>
                    <a:pt x="72390" y="1924812"/>
                    <a:pt x="146050" y="1924812"/>
                  </a:cubicBezTo>
                  <a:lnTo>
                    <a:pt x="12791313" y="1924812"/>
                  </a:lnTo>
                  <a:cubicBezTo>
                    <a:pt x="12864973" y="1924812"/>
                    <a:pt x="12924663" y="1865376"/>
                    <a:pt x="12924663" y="1792224"/>
                  </a:cubicBezTo>
                  <a:lnTo>
                    <a:pt x="12924663" y="145288"/>
                  </a:lnTo>
                  <a:cubicBezTo>
                    <a:pt x="12924663" y="72136"/>
                    <a:pt x="12864973" y="12700"/>
                    <a:pt x="12791313" y="12700"/>
                  </a:cubicBezTo>
                  <a:lnTo>
                    <a:pt x="146050" y="12700"/>
                  </a:lnTo>
                  <a:lnTo>
                    <a:pt x="146050" y="6350"/>
                  </a:lnTo>
                  <a:lnTo>
                    <a:pt x="146050" y="12700"/>
                  </a:lnTo>
                  <a:cubicBezTo>
                    <a:pt x="72390" y="12700"/>
                    <a:pt x="12700" y="72136"/>
                    <a:pt x="12700" y="145288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983741" y="3242815"/>
            <a:ext cx="3584229" cy="45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Fake Sender Addresses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83741" y="3770862"/>
            <a:ext cx="9178528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Spot when an email claims to be from your bank but isn't.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21498" y="4669784"/>
            <a:ext cx="9703003" cy="1453163"/>
            <a:chOff x="0" y="0"/>
            <a:chExt cx="12937338" cy="1937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2924663" cy="1924812"/>
            </a:xfrm>
            <a:custGeom>
              <a:avLst/>
              <a:gdLst/>
              <a:ahLst/>
              <a:cxnLst/>
              <a:rect r="r" b="b" t="t" l="l"/>
              <a:pathLst>
                <a:path h="1924812" w="12924663">
                  <a:moveTo>
                    <a:pt x="0" y="138938"/>
                  </a:moveTo>
                  <a:cubicBezTo>
                    <a:pt x="0" y="62230"/>
                    <a:pt x="62611" y="0"/>
                    <a:pt x="139700" y="0"/>
                  </a:cubicBezTo>
                  <a:lnTo>
                    <a:pt x="12784963" y="0"/>
                  </a:lnTo>
                  <a:cubicBezTo>
                    <a:pt x="12862179" y="0"/>
                    <a:pt x="12924663" y="62230"/>
                    <a:pt x="12924663" y="138938"/>
                  </a:cubicBezTo>
                  <a:lnTo>
                    <a:pt x="12924663" y="1785874"/>
                  </a:lnTo>
                  <a:cubicBezTo>
                    <a:pt x="12924663" y="1862582"/>
                    <a:pt x="12862052" y="1924812"/>
                    <a:pt x="12784963" y="1924812"/>
                  </a:cubicBezTo>
                  <a:lnTo>
                    <a:pt x="139700" y="1924812"/>
                  </a:lnTo>
                  <a:cubicBezTo>
                    <a:pt x="62484" y="1924812"/>
                    <a:pt x="0" y="1862582"/>
                    <a:pt x="0" y="1785874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37363" cy="1937512"/>
            </a:xfrm>
            <a:custGeom>
              <a:avLst/>
              <a:gdLst/>
              <a:ahLst/>
              <a:cxnLst/>
              <a:rect r="r" b="b" t="t" l="l"/>
              <a:pathLst>
                <a:path h="1937512" w="12937363">
                  <a:moveTo>
                    <a:pt x="0" y="145288"/>
                  </a:moveTo>
                  <a:cubicBezTo>
                    <a:pt x="0" y="65024"/>
                    <a:pt x="65405" y="0"/>
                    <a:pt x="146050" y="0"/>
                  </a:cubicBezTo>
                  <a:lnTo>
                    <a:pt x="12791313" y="0"/>
                  </a:lnTo>
                  <a:lnTo>
                    <a:pt x="12791313" y="6350"/>
                  </a:lnTo>
                  <a:lnTo>
                    <a:pt x="12791313" y="0"/>
                  </a:lnTo>
                  <a:cubicBezTo>
                    <a:pt x="12871958" y="0"/>
                    <a:pt x="12937363" y="65024"/>
                    <a:pt x="12937363" y="145288"/>
                  </a:cubicBezTo>
                  <a:lnTo>
                    <a:pt x="12931013" y="145288"/>
                  </a:lnTo>
                  <a:lnTo>
                    <a:pt x="12937363" y="145288"/>
                  </a:lnTo>
                  <a:lnTo>
                    <a:pt x="12937363" y="1792224"/>
                  </a:lnTo>
                  <a:lnTo>
                    <a:pt x="12931013" y="1792224"/>
                  </a:lnTo>
                  <a:lnTo>
                    <a:pt x="12937363" y="1792224"/>
                  </a:lnTo>
                  <a:cubicBezTo>
                    <a:pt x="12937363" y="1872488"/>
                    <a:pt x="12871958" y="1937512"/>
                    <a:pt x="12791313" y="1937512"/>
                  </a:cubicBezTo>
                  <a:lnTo>
                    <a:pt x="12791313" y="1931162"/>
                  </a:lnTo>
                  <a:lnTo>
                    <a:pt x="12791313" y="1937512"/>
                  </a:lnTo>
                  <a:lnTo>
                    <a:pt x="146050" y="1937512"/>
                  </a:lnTo>
                  <a:lnTo>
                    <a:pt x="146050" y="1931162"/>
                  </a:lnTo>
                  <a:lnTo>
                    <a:pt x="146050" y="1937512"/>
                  </a:lnTo>
                  <a:cubicBezTo>
                    <a:pt x="65405" y="1937512"/>
                    <a:pt x="0" y="1872488"/>
                    <a:pt x="0" y="1792224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1792224"/>
                  </a:lnTo>
                  <a:lnTo>
                    <a:pt x="6350" y="1792224"/>
                  </a:lnTo>
                  <a:lnTo>
                    <a:pt x="12700" y="1792224"/>
                  </a:lnTo>
                  <a:cubicBezTo>
                    <a:pt x="12700" y="1865376"/>
                    <a:pt x="72390" y="1924812"/>
                    <a:pt x="146050" y="1924812"/>
                  </a:cubicBezTo>
                  <a:lnTo>
                    <a:pt x="12791313" y="1924812"/>
                  </a:lnTo>
                  <a:cubicBezTo>
                    <a:pt x="12864973" y="1924812"/>
                    <a:pt x="12924663" y="1865376"/>
                    <a:pt x="12924663" y="1792224"/>
                  </a:cubicBezTo>
                  <a:lnTo>
                    <a:pt x="12924663" y="145288"/>
                  </a:lnTo>
                  <a:cubicBezTo>
                    <a:pt x="12924663" y="72136"/>
                    <a:pt x="12864973" y="12700"/>
                    <a:pt x="12791313" y="12700"/>
                  </a:cubicBezTo>
                  <a:lnTo>
                    <a:pt x="146050" y="12700"/>
                  </a:lnTo>
                  <a:lnTo>
                    <a:pt x="146050" y="6350"/>
                  </a:lnTo>
                  <a:lnTo>
                    <a:pt x="146050" y="12700"/>
                  </a:lnTo>
                  <a:cubicBezTo>
                    <a:pt x="72390" y="12700"/>
                    <a:pt x="12700" y="72136"/>
                    <a:pt x="12700" y="145288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983741" y="4903441"/>
            <a:ext cx="5058966" cy="45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Urgent or Threatening Language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83741" y="5431479"/>
            <a:ext cx="9178528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Recognise pressure tactics used to make you act quickly.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21498" y="6330401"/>
            <a:ext cx="9703003" cy="1453163"/>
            <a:chOff x="0" y="0"/>
            <a:chExt cx="12937338" cy="19375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2924663" cy="1924812"/>
            </a:xfrm>
            <a:custGeom>
              <a:avLst/>
              <a:gdLst/>
              <a:ahLst/>
              <a:cxnLst/>
              <a:rect r="r" b="b" t="t" l="l"/>
              <a:pathLst>
                <a:path h="1924812" w="12924663">
                  <a:moveTo>
                    <a:pt x="0" y="138938"/>
                  </a:moveTo>
                  <a:cubicBezTo>
                    <a:pt x="0" y="62230"/>
                    <a:pt x="62611" y="0"/>
                    <a:pt x="139700" y="0"/>
                  </a:cubicBezTo>
                  <a:lnTo>
                    <a:pt x="12784963" y="0"/>
                  </a:lnTo>
                  <a:cubicBezTo>
                    <a:pt x="12862179" y="0"/>
                    <a:pt x="12924663" y="62230"/>
                    <a:pt x="12924663" y="138938"/>
                  </a:cubicBezTo>
                  <a:lnTo>
                    <a:pt x="12924663" y="1785874"/>
                  </a:lnTo>
                  <a:cubicBezTo>
                    <a:pt x="12924663" y="1862582"/>
                    <a:pt x="12862052" y="1924812"/>
                    <a:pt x="12784963" y="1924812"/>
                  </a:cubicBezTo>
                  <a:lnTo>
                    <a:pt x="139700" y="1924812"/>
                  </a:lnTo>
                  <a:cubicBezTo>
                    <a:pt x="62484" y="1924812"/>
                    <a:pt x="0" y="1862582"/>
                    <a:pt x="0" y="1785874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37363" cy="1937512"/>
            </a:xfrm>
            <a:custGeom>
              <a:avLst/>
              <a:gdLst/>
              <a:ahLst/>
              <a:cxnLst/>
              <a:rect r="r" b="b" t="t" l="l"/>
              <a:pathLst>
                <a:path h="1937512" w="12937363">
                  <a:moveTo>
                    <a:pt x="0" y="145288"/>
                  </a:moveTo>
                  <a:cubicBezTo>
                    <a:pt x="0" y="65024"/>
                    <a:pt x="65405" y="0"/>
                    <a:pt x="146050" y="0"/>
                  </a:cubicBezTo>
                  <a:lnTo>
                    <a:pt x="12791313" y="0"/>
                  </a:lnTo>
                  <a:lnTo>
                    <a:pt x="12791313" y="6350"/>
                  </a:lnTo>
                  <a:lnTo>
                    <a:pt x="12791313" y="0"/>
                  </a:lnTo>
                  <a:cubicBezTo>
                    <a:pt x="12871958" y="0"/>
                    <a:pt x="12937363" y="65024"/>
                    <a:pt x="12937363" y="145288"/>
                  </a:cubicBezTo>
                  <a:lnTo>
                    <a:pt x="12931013" y="145288"/>
                  </a:lnTo>
                  <a:lnTo>
                    <a:pt x="12937363" y="145288"/>
                  </a:lnTo>
                  <a:lnTo>
                    <a:pt x="12937363" y="1792224"/>
                  </a:lnTo>
                  <a:lnTo>
                    <a:pt x="12931013" y="1792224"/>
                  </a:lnTo>
                  <a:lnTo>
                    <a:pt x="12937363" y="1792224"/>
                  </a:lnTo>
                  <a:cubicBezTo>
                    <a:pt x="12937363" y="1872488"/>
                    <a:pt x="12871958" y="1937512"/>
                    <a:pt x="12791313" y="1937512"/>
                  </a:cubicBezTo>
                  <a:lnTo>
                    <a:pt x="12791313" y="1931162"/>
                  </a:lnTo>
                  <a:lnTo>
                    <a:pt x="12791313" y="1937512"/>
                  </a:lnTo>
                  <a:lnTo>
                    <a:pt x="146050" y="1937512"/>
                  </a:lnTo>
                  <a:lnTo>
                    <a:pt x="146050" y="1931162"/>
                  </a:lnTo>
                  <a:lnTo>
                    <a:pt x="146050" y="1937512"/>
                  </a:lnTo>
                  <a:cubicBezTo>
                    <a:pt x="65405" y="1937512"/>
                    <a:pt x="0" y="1872488"/>
                    <a:pt x="0" y="1792224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1792224"/>
                  </a:lnTo>
                  <a:lnTo>
                    <a:pt x="6350" y="1792224"/>
                  </a:lnTo>
                  <a:lnTo>
                    <a:pt x="12700" y="1792224"/>
                  </a:lnTo>
                  <a:cubicBezTo>
                    <a:pt x="12700" y="1865376"/>
                    <a:pt x="72390" y="1924812"/>
                    <a:pt x="146050" y="1924812"/>
                  </a:cubicBezTo>
                  <a:lnTo>
                    <a:pt x="12791313" y="1924812"/>
                  </a:lnTo>
                  <a:cubicBezTo>
                    <a:pt x="12864973" y="1924812"/>
                    <a:pt x="12924663" y="1865376"/>
                    <a:pt x="12924663" y="1792224"/>
                  </a:cubicBezTo>
                  <a:lnTo>
                    <a:pt x="12924663" y="145288"/>
                  </a:lnTo>
                  <a:cubicBezTo>
                    <a:pt x="12924663" y="72136"/>
                    <a:pt x="12864973" y="12700"/>
                    <a:pt x="12791313" y="12700"/>
                  </a:cubicBezTo>
                  <a:lnTo>
                    <a:pt x="146050" y="12700"/>
                  </a:lnTo>
                  <a:lnTo>
                    <a:pt x="146050" y="6350"/>
                  </a:lnTo>
                  <a:lnTo>
                    <a:pt x="146050" y="12700"/>
                  </a:lnTo>
                  <a:cubicBezTo>
                    <a:pt x="72390" y="12700"/>
                    <a:pt x="12700" y="72136"/>
                    <a:pt x="12700" y="145288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83741" y="6564068"/>
            <a:ext cx="3411141" cy="45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Suspicious Links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83741" y="7092105"/>
            <a:ext cx="9178528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Identify dangerous links before you click them.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721498" y="7991027"/>
            <a:ext cx="9703003" cy="1453163"/>
            <a:chOff x="0" y="0"/>
            <a:chExt cx="12937338" cy="19375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12924663" cy="1924812"/>
            </a:xfrm>
            <a:custGeom>
              <a:avLst/>
              <a:gdLst/>
              <a:ahLst/>
              <a:cxnLst/>
              <a:rect r="r" b="b" t="t" l="l"/>
              <a:pathLst>
                <a:path h="1924812" w="12924663">
                  <a:moveTo>
                    <a:pt x="0" y="138938"/>
                  </a:moveTo>
                  <a:cubicBezTo>
                    <a:pt x="0" y="62230"/>
                    <a:pt x="62611" y="0"/>
                    <a:pt x="139700" y="0"/>
                  </a:cubicBezTo>
                  <a:lnTo>
                    <a:pt x="12784963" y="0"/>
                  </a:lnTo>
                  <a:cubicBezTo>
                    <a:pt x="12862179" y="0"/>
                    <a:pt x="12924663" y="62230"/>
                    <a:pt x="12924663" y="138938"/>
                  </a:cubicBezTo>
                  <a:lnTo>
                    <a:pt x="12924663" y="1785874"/>
                  </a:lnTo>
                  <a:cubicBezTo>
                    <a:pt x="12924663" y="1862582"/>
                    <a:pt x="12862052" y="1924812"/>
                    <a:pt x="12784963" y="1924812"/>
                  </a:cubicBezTo>
                  <a:lnTo>
                    <a:pt x="139700" y="1924812"/>
                  </a:lnTo>
                  <a:cubicBezTo>
                    <a:pt x="62484" y="1924812"/>
                    <a:pt x="0" y="1862582"/>
                    <a:pt x="0" y="1785874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37363" cy="1937512"/>
            </a:xfrm>
            <a:custGeom>
              <a:avLst/>
              <a:gdLst/>
              <a:ahLst/>
              <a:cxnLst/>
              <a:rect r="r" b="b" t="t" l="l"/>
              <a:pathLst>
                <a:path h="1937512" w="12937363">
                  <a:moveTo>
                    <a:pt x="0" y="145288"/>
                  </a:moveTo>
                  <a:cubicBezTo>
                    <a:pt x="0" y="65024"/>
                    <a:pt x="65405" y="0"/>
                    <a:pt x="146050" y="0"/>
                  </a:cubicBezTo>
                  <a:lnTo>
                    <a:pt x="12791313" y="0"/>
                  </a:lnTo>
                  <a:lnTo>
                    <a:pt x="12791313" y="6350"/>
                  </a:lnTo>
                  <a:lnTo>
                    <a:pt x="12791313" y="0"/>
                  </a:lnTo>
                  <a:cubicBezTo>
                    <a:pt x="12871958" y="0"/>
                    <a:pt x="12937363" y="65024"/>
                    <a:pt x="12937363" y="145288"/>
                  </a:cubicBezTo>
                  <a:lnTo>
                    <a:pt x="12931013" y="145288"/>
                  </a:lnTo>
                  <a:lnTo>
                    <a:pt x="12937363" y="145288"/>
                  </a:lnTo>
                  <a:lnTo>
                    <a:pt x="12937363" y="1792224"/>
                  </a:lnTo>
                  <a:lnTo>
                    <a:pt x="12931013" y="1792224"/>
                  </a:lnTo>
                  <a:lnTo>
                    <a:pt x="12937363" y="1792224"/>
                  </a:lnTo>
                  <a:cubicBezTo>
                    <a:pt x="12937363" y="1872488"/>
                    <a:pt x="12871958" y="1937512"/>
                    <a:pt x="12791313" y="1937512"/>
                  </a:cubicBezTo>
                  <a:lnTo>
                    <a:pt x="12791313" y="1931162"/>
                  </a:lnTo>
                  <a:lnTo>
                    <a:pt x="12791313" y="1937512"/>
                  </a:lnTo>
                  <a:lnTo>
                    <a:pt x="146050" y="1937512"/>
                  </a:lnTo>
                  <a:lnTo>
                    <a:pt x="146050" y="1931162"/>
                  </a:lnTo>
                  <a:lnTo>
                    <a:pt x="146050" y="1937512"/>
                  </a:lnTo>
                  <a:cubicBezTo>
                    <a:pt x="65405" y="1937512"/>
                    <a:pt x="0" y="1872488"/>
                    <a:pt x="0" y="1792224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1792224"/>
                  </a:lnTo>
                  <a:lnTo>
                    <a:pt x="6350" y="1792224"/>
                  </a:lnTo>
                  <a:lnTo>
                    <a:pt x="12700" y="1792224"/>
                  </a:lnTo>
                  <a:cubicBezTo>
                    <a:pt x="12700" y="1865376"/>
                    <a:pt x="72390" y="1924812"/>
                    <a:pt x="146050" y="1924812"/>
                  </a:cubicBezTo>
                  <a:lnTo>
                    <a:pt x="12791313" y="1924812"/>
                  </a:lnTo>
                  <a:cubicBezTo>
                    <a:pt x="12864973" y="1924812"/>
                    <a:pt x="12924663" y="1865376"/>
                    <a:pt x="12924663" y="1792224"/>
                  </a:cubicBezTo>
                  <a:lnTo>
                    <a:pt x="12924663" y="145288"/>
                  </a:lnTo>
                  <a:cubicBezTo>
                    <a:pt x="12924663" y="72136"/>
                    <a:pt x="12864973" y="12700"/>
                    <a:pt x="12791313" y="12700"/>
                  </a:cubicBezTo>
                  <a:lnTo>
                    <a:pt x="146050" y="12700"/>
                  </a:lnTo>
                  <a:lnTo>
                    <a:pt x="146050" y="6350"/>
                  </a:lnTo>
                  <a:lnTo>
                    <a:pt x="146050" y="12700"/>
                  </a:lnTo>
                  <a:cubicBezTo>
                    <a:pt x="72390" y="12700"/>
                    <a:pt x="12700" y="72136"/>
                    <a:pt x="12700" y="145288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983741" y="8224685"/>
            <a:ext cx="3552530" cy="45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Spoofed Organisations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83741" y="8752732"/>
            <a:ext cx="9178528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See how criminals pretend to be banks, delivery firms, or government bodies.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0514"/>
            <a:ext cx="7797108" cy="101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6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How the Game 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3280" y="2340178"/>
            <a:ext cx="15781287" cy="5921873"/>
            <a:chOff x="0" y="0"/>
            <a:chExt cx="21041716" cy="789583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041740" cy="7895844"/>
            </a:xfrm>
            <a:custGeom>
              <a:avLst/>
              <a:gdLst/>
              <a:ahLst/>
              <a:cxnLst/>
              <a:rect r="r" b="b" t="t" l="l"/>
              <a:pathLst>
                <a:path h="7895844" w="21041740">
                  <a:moveTo>
                    <a:pt x="0" y="0"/>
                  </a:moveTo>
                  <a:lnTo>
                    <a:pt x="21041740" y="0"/>
                  </a:lnTo>
                  <a:lnTo>
                    <a:pt x="21041740" y="7895844"/>
                  </a:lnTo>
                  <a:lnTo>
                    <a:pt x="0" y="7895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4730679" y="3848576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744" r="0" b="-174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004417" y="6520758"/>
            <a:ext cx="2380298" cy="103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Score Update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1746401" y="3850110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8"/>
                </a:lnTo>
                <a:lnTo>
                  <a:pt x="0" y="815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395" t="0" r="-639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004594" y="6520758"/>
            <a:ext cx="2380288" cy="103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See Explanation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8762886" y="3850110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8" y="0"/>
                </a:lnTo>
                <a:lnTo>
                  <a:pt x="815168" y="815168"/>
                </a:lnTo>
                <a:lnTo>
                  <a:pt x="0" y="815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81" t="0" r="-58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21079" y="6772951"/>
            <a:ext cx="2380288" cy="53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Choose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5779370" y="3850110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8" y="0"/>
                </a:lnTo>
                <a:lnTo>
                  <a:pt x="815168" y="815168"/>
                </a:lnTo>
                <a:lnTo>
                  <a:pt x="0" y="815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81" t="0" r="-58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37563" y="6772951"/>
            <a:ext cx="2380288" cy="53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Find Clues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2779547" y="3850110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8"/>
                </a:lnTo>
                <a:lnTo>
                  <a:pt x="0" y="8151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8023" t="0" r="-1802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88830" y="6772951"/>
            <a:ext cx="2380288" cy="53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Read Email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8495262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round walks you through a realistic email scenario. There is no time pressure — take as long as you need to inspect the details and make a safe decision.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54136"/>
            <a:ext cx="5256457" cy="198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6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You Are in 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339085"/>
            <a:ext cx="5256457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When a suspicious email appears, you decide what to do. The game trains you to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pause and think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before reacting — exactly the skill you need in real life.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949973" y="1267720"/>
            <a:ext cx="10355161" cy="5867848"/>
            <a:chOff x="0" y="0"/>
            <a:chExt cx="13806881" cy="782379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806932" cy="7823835"/>
            </a:xfrm>
            <a:custGeom>
              <a:avLst/>
              <a:gdLst/>
              <a:ahLst/>
              <a:cxnLst/>
              <a:rect r="r" b="b" t="t" l="l"/>
              <a:pathLst>
                <a:path h="7823835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7823835"/>
                  </a:lnTo>
                  <a:lnTo>
                    <a:pt x="0" y="7823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2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1098499" y="7782220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13630" y="7744863"/>
            <a:ext cx="3898554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Click the link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3630" y="8345243"/>
            <a:ext cx="427687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Only if you are certain it is safe.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6651127" y="7782220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466257" y="7744863"/>
            <a:ext cx="3898554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Delete the email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66257" y="8345243"/>
            <a:ext cx="427687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When something feels wrong or unclear.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2203754" y="7782220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018894" y="7744863"/>
            <a:ext cx="3898554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Report the message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18894" y="8345243"/>
            <a:ext cx="427687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Flag suspicious emails to help protect others.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329480"/>
            <a:ext cx="9445523" cy="198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6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Friendly Feedback Every Step of the Way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656114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Every answer — right or wrong — comes with a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clear, plain-English explanation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The goal is to teach, not to punish.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73188" y="4948980"/>
            <a:ext cx="9483623" cy="1871958"/>
            <a:chOff x="0" y="0"/>
            <a:chExt cx="12644831" cy="24959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2593955" cy="2445131"/>
            </a:xfrm>
            <a:custGeom>
              <a:avLst/>
              <a:gdLst/>
              <a:ahLst/>
              <a:cxnLst/>
              <a:rect r="r" b="b" t="t" l="l"/>
              <a:pathLst>
                <a:path h="2445131" w="12593955">
                  <a:moveTo>
                    <a:pt x="0" y="158750"/>
                  </a:moveTo>
                  <a:cubicBezTo>
                    <a:pt x="0" y="71120"/>
                    <a:pt x="72263" y="0"/>
                    <a:pt x="161417" y="0"/>
                  </a:cubicBezTo>
                  <a:lnTo>
                    <a:pt x="12432538" y="0"/>
                  </a:lnTo>
                  <a:cubicBezTo>
                    <a:pt x="12521692" y="0"/>
                    <a:pt x="12593955" y="71120"/>
                    <a:pt x="12593955" y="158750"/>
                  </a:cubicBezTo>
                  <a:lnTo>
                    <a:pt x="12593955" y="2286381"/>
                  </a:lnTo>
                  <a:cubicBezTo>
                    <a:pt x="12593955" y="2374138"/>
                    <a:pt x="12521692" y="2445131"/>
                    <a:pt x="12432538" y="2445131"/>
                  </a:cubicBezTo>
                  <a:lnTo>
                    <a:pt x="161417" y="2445131"/>
                  </a:lnTo>
                  <a:cubicBezTo>
                    <a:pt x="72263" y="2445131"/>
                    <a:pt x="0" y="2374011"/>
                    <a:pt x="0" y="2286381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44755" cy="2495931"/>
            </a:xfrm>
            <a:custGeom>
              <a:avLst/>
              <a:gdLst/>
              <a:ahLst/>
              <a:cxnLst/>
              <a:rect r="r" b="b" t="t" l="l"/>
              <a:pathLst>
                <a:path h="2495931" w="12644755">
                  <a:moveTo>
                    <a:pt x="0" y="184150"/>
                  </a:moveTo>
                  <a:cubicBezTo>
                    <a:pt x="0" y="82042"/>
                    <a:pt x="84074" y="0"/>
                    <a:pt x="186817" y="0"/>
                  </a:cubicBezTo>
                  <a:lnTo>
                    <a:pt x="12457938" y="0"/>
                  </a:lnTo>
                  <a:lnTo>
                    <a:pt x="12457938" y="25400"/>
                  </a:lnTo>
                  <a:lnTo>
                    <a:pt x="12457938" y="0"/>
                  </a:lnTo>
                  <a:cubicBezTo>
                    <a:pt x="12560681" y="0"/>
                    <a:pt x="12644755" y="82042"/>
                    <a:pt x="12644755" y="184150"/>
                  </a:cubicBezTo>
                  <a:lnTo>
                    <a:pt x="12619355" y="184150"/>
                  </a:lnTo>
                  <a:lnTo>
                    <a:pt x="12644755" y="184150"/>
                  </a:lnTo>
                  <a:lnTo>
                    <a:pt x="12644755" y="2311781"/>
                  </a:lnTo>
                  <a:lnTo>
                    <a:pt x="12619355" y="2311781"/>
                  </a:lnTo>
                  <a:lnTo>
                    <a:pt x="12644755" y="2311781"/>
                  </a:lnTo>
                  <a:cubicBezTo>
                    <a:pt x="12644755" y="2413889"/>
                    <a:pt x="12560681" y="2495931"/>
                    <a:pt x="12457938" y="2495931"/>
                  </a:cubicBezTo>
                  <a:lnTo>
                    <a:pt x="12457938" y="2470531"/>
                  </a:lnTo>
                  <a:lnTo>
                    <a:pt x="12457938" y="2495931"/>
                  </a:lnTo>
                  <a:lnTo>
                    <a:pt x="186817" y="2495931"/>
                  </a:lnTo>
                  <a:lnTo>
                    <a:pt x="186817" y="2470531"/>
                  </a:lnTo>
                  <a:lnTo>
                    <a:pt x="186817" y="2495931"/>
                  </a:lnTo>
                  <a:cubicBezTo>
                    <a:pt x="84074" y="2495931"/>
                    <a:pt x="0" y="2413889"/>
                    <a:pt x="0" y="2311781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311781"/>
                  </a:lnTo>
                  <a:lnTo>
                    <a:pt x="25400" y="2311781"/>
                  </a:lnTo>
                  <a:lnTo>
                    <a:pt x="50800" y="2311781"/>
                  </a:lnTo>
                  <a:cubicBezTo>
                    <a:pt x="50800" y="2385060"/>
                    <a:pt x="111252" y="2445131"/>
                    <a:pt x="186817" y="2445131"/>
                  </a:cubicBezTo>
                  <a:lnTo>
                    <a:pt x="12457938" y="2445131"/>
                  </a:lnTo>
                  <a:cubicBezTo>
                    <a:pt x="12533503" y="2445131"/>
                    <a:pt x="12593955" y="2385060"/>
                    <a:pt x="12593955" y="2311781"/>
                  </a:cubicBezTo>
                  <a:lnTo>
                    <a:pt x="12593955" y="184150"/>
                  </a:lnTo>
                  <a:cubicBezTo>
                    <a:pt x="12593955" y="110871"/>
                    <a:pt x="12533503" y="50800"/>
                    <a:pt x="12457938" y="50800"/>
                  </a:cubicBezTo>
                  <a:lnTo>
                    <a:pt x="186817" y="50800"/>
                  </a:lnTo>
                  <a:lnTo>
                    <a:pt x="186817" y="25400"/>
                  </a:lnTo>
                  <a:lnTo>
                    <a:pt x="186817" y="50800"/>
                  </a:lnTo>
                  <a:cubicBezTo>
                    <a:pt x="111252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60222" y="4836023"/>
            <a:ext cx="340223" cy="340223"/>
            <a:chOff x="0" y="0"/>
            <a:chExt cx="453631" cy="45363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53644" cy="453644"/>
            </a:xfrm>
            <a:custGeom>
              <a:avLst/>
              <a:gdLst/>
              <a:ahLst/>
              <a:cxnLst/>
              <a:rect r="r" b="b" t="t" l="l"/>
              <a:pathLst>
                <a:path h="453644" w="453644">
                  <a:moveTo>
                    <a:pt x="0" y="0"/>
                  </a:moveTo>
                  <a:lnTo>
                    <a:pt x="453644" y="0"/>
                  </a:lnTo>
                  <a:lnTo>
                    <a:pt x="453644" y="453644"/>
                  </a:lnTo>
                  <a:lnTo>
                    <a:pt x="0" y="453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29555" y="6593681"/>
            <a:ext cx="340223" cy="340223"/>
            <a:chOff x="0" y="0"/>
            <a:chExt cx="453631" cy="45363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53644" cy="453644"/>
            </a:xfrm>
            <a:custGeom>
              <a:avLst/>
              <a:gdLst/>
              <a:ahLst/>
              <a:cxnLst/>
              <a:rect r="r" b="b" t="t" l="l"/>
              <a:pathLst>
                <a:path h="453644" w="453644">
                  <a:moveTo>
                    <a:pt x="0" y="0"/>
                  </a:moveTo>
                  <a:lnTo>
                    <a:pt x="453644" y="0"/>
                  </a:lnTo>
                  <a:lnTo>
                    <a:pt x="453644" y="453644"/>
                  </a:lnTo>
                  <a:lnTo>
                    <a:pt x="0" y="453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55544" y="5345611"/>
            <a:ext cx="851892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Correct choice: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"Great job! The sender address is suspicious, and the message creates unnecessary urgency."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3188" y="7066359"/>
            <a:ext cx="9483623" cy="1871958"/>
            <a:chOff x="0" y="0"/>
            <a:chExt cx="12644831" cy="24959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2593955" cy="2445131"/>
            </a:xfrm>
            <a:custGeom>
              <a:avLst/>
              <a:gdLst/>
              <a:ahLst/>
              <a:cxnLst/>
              <a:rect r="r" b="b" t="t" l="l"/>
              <a:pathLst>
                <a:path h="2445131" w="12593955">
                  <a:moveTo>
                    <a:pt x="0" y="158750"/>
                  </a:moveTo>
                  <a:cubicBezTo>
                    <a:pt x="0" y="71120"/>
                    <a:pt x="72263" y="0"/>
                    <a:pt x="161417" y="0"/>
                  </a:cubicBezTo>
                  <a:lnTo>
                    <a:pt x="12432538" y="0"/>
                  </a:lnTo>
                  <a:cubicBezTo>
                    <a:pt x="12521692" y="0"/>
                    <a:pt x="12593955" y="71120"/>
                    <a:pt x="12593955" y="158750"/>
                  </a:cubicBezTo>
                  <a:lnTo>
                    <a:pt x="12593955" y="2286381"/>
                  </a:lnTo>
                  <a:cubicBezTo>
                    <a:pt x="12593955" y="2374138"/>
                    <a:pt x="12521692" y="2445131"/>
                    <a:pt x="12432538" y="2445131"/>
                  </a:cubicBezTo>
                  <a:lnTo>
                    <a:pt x="161417" y="2445131"/>
                  </a:lnTo>
                  <a:cubicBezTo>
                    <a:pt x="72263" y="2445131"/>
                    <a:pt x="0" y="2374011"/>
                    <a:pt x="0" y="2286381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44755" cy="2495931"/>
            </a:xfrm>
            <a:custGeom>
              <a:avLst/>
              <a:gdLst/>
              <a:ahLst/>
              <a:cxnLst/>
              <a:rect r="r" b="b" t="t" l="l"/>
              <a:pathLst>
                <a:path h="2495931" w="12644755">
                  <a:moveTo>
                    <a:pt x="0" y="184150"/>
                  </a:moveTo>
                  <a:cubicBezTo>
                    <a:pt x="0" y="82042"/>
                    <a:pt x="84074" y="0"/>
                    <a:pt x="186817" y="0"/>
                  </a:cubicBezTo>
                  <a:lnTo>
                    <a:pt x="12457938" y="0"/>
                  </a:lnTo>
                  <a:lnTo>
                    <a:pt x="12457938" y="25400"/>
                  </a:lnTo>
                  <a:lnTo>
                    <a:pt x="12457938" y="0"/>
                  </a:lnTo>
                  <a:cubicBezTo>
                    <a:pt x="12560681" y="0"/>
                    <a:pt x="12644755" y="82042"/>
                    <a:pt x="12644755" y="184150"/>
                  </a:cubicBezTo>
                  <a:lnTo>
                    <a:pt x="12619355" y="184150"/>
                  </a:lnTo>
                  <a:lnTo>
                    <a:pt x="12644755" y="184150"/>
                  </a:lnTo>
                  <a:lnTo>
                    <a:pt x="12644755" y="2311781"/>
                  </a:lnTo>
                  <a:lnTo>
                    <a:pt x="12619355" y="2311781"/>
                  </a:lnTo>
                  <a:lnTo>
                    <a:pt x="12644755" y="2311781"/>
                  </a:lnTo>
                  <a:cubicBezTo>
                    <a:pt x="12644755" y="2413889"/>
                    <a:pt x="12560681" y="2495931"/>
                    <a:pt x="12457938" y="2495931"/>
                  </a:cubicBezTo>
                  <a:lnTo>
                    <a:pt x="12457938" y="2470531"/>
                  </a:lnTo>
                  <a:lnTo>
                    <a:pt x="12457938" y="2495931"/>
                  </a:lnTo>
                  <a:lnTo>
                    <a:pt x="186817" y="2495931"/>
                  </a:lnTo>
                  <a:lnTo>
                    <a:pt x="186817" y="2470531"/>
                  </a:lnTo>
                  <a:lnTo>
                    <a:pt x="186817" y="2495931"/>
                  </a:lnTo>
                  <a:cubicBezTo>
                    <a:pt x="84074" y="2495931"/>
                    <a:pt x="0" y="2413889"/>
                    <a:pt x="0" y="2311781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311781"/>
                  </a:lnTo>
                  <a:lnTo>
                    <a:pt x="25400" y="2311781"/>
                  </a:lnTo>
                  <a:lnTo>
                    <a:pt x="50800" y="2311781"/>
                  </a:lnTo>
                  <a:cubicBezTo>
                    <a:pt x="50800" y="2385060"/>
                    <a:pt x="111252" y="2445131"/>
                    <a:pt x="186817" y="2445131"/>
                  </a:cubicBezTo>
                  <a:lnTo>
                    <a:pt x="12457938" y="2445131"/>
                  </a:lnTo>
                  <a:cubicBezTo>
                    <a:pt x="12533503" y="2445131"/>
                    <a:pt x="12593955" y="2385060"/>
                    <a:pt x="12593955" y="2311781"/>
                  </a:cubicBezTo>
                  <a:lnTo>
                    <a:pt x="12593955" y="184150"/>
                  </a:lnTo>
                  <a:cubicBezTo>
                    <a:pt x="12593955" y="110871"/>
                    <a:pt x="12533503" y="50800"/>
                    <a:pt x="12457938" y="50800"/>
                  </a:cubicBezTo>
                  <a:lnTo>
                    <a:pt x="186817" y="50800"/>
                  </a:lnTo>
                  <a:lnTo>
                    <a:pt x="186817" y="25400"/>
                  </a:lnTo>
                  <a:lnTo>
                    <a:pt x="186817" y="50800"/>
                  </a:lnTo>
                  <a:cubicBezTo>
                    <a:pt x="111252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60222" y="6953402"/>
            <a:ext cx="340223" cy="340223"/>
            <a:chOff x="0" y="0"/>
            <a:chExt cx="453631" cy="453631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53644" cy="453644"/>
            </a:xfrm>
            <a:custGeom>
              <a:avLst/>
              <a:gdLst/>
              <a:ahLst/>
              <a:cxnLst/>
              <a:rect r="r" b="b" t="t" l="l"/>
              <a:pathLst>
                <a:path h="453644" w="453644">
                  <a:moveTo>
                    <a:pt x="0" y="0"/>
                  </a:moveTo>
                  <a:lnTo>
                    <a:pt x="453644" y="0"/>
                  </a:lnTo>
                  <a:lnTo>
                    <a:pt x="453644" y="453644"/>
                  </a:lnTo>
                  <a:lnTo>
                    <a:pt x="0" y="453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29555" y="8711060"/>
            <a:ext cx="340223" cy="340223"/>
            <a:chOff x="0" y="0"/>
            <a:chExt cx="453631" cy="453631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53644" cy="453644"/>
            </a:xfrm>
            <a:custGeom>
              <a:avLst/>
              <a:gdLst/>
              <a:ahLst/>
              <a:cxnLst/>
              <a:rect r="r" b="b" t="t" l="l"/>
              <a:pathLst>
                <a:path h="453644" w="453644">
                  <a:moveTo>
                    <a:pt x="0" y="0"/>
                  </a:moveTo>
                  <a:lnTo>
                    <a:pt x="453644" y="0"/>
                  </a:lnTo>
                  <a:lnTo>
                    <a:pt x="453644" y="453644"/>
                  </a:lnTo>
                  <a:lnTo>
                    <a:pt x="0" y="453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55544" y="7462990"/>
            <a:ext cx="851892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Incorrect choice: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"This email is unsafe — legitimate banks never ask for passwords through email links."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96526"/>
            <a:ext cx="10767117" cy="101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6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Your Progress &amp; Passing Score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41699"/>
            <a:ext cx="5198269" cy="81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70%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2024" y="4979041"/>
            <a:ext cx="3898554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Minimum Pass Mark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579421"/>
            <a:ext cx="5198269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You need to correctly identify phishing warning signs in at least 70% of scenarios.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4866" y="3841699"/>
            <a:ext cx="5198269" cy="81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3+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06688" y="4979041"/>
            <a:ext cx="4074471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Warning Signs Spotted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4866" y="5579421"/>
            <a:ext cx="5198269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round challenges you to find at least three clues that an email is suspicious.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97493" y="3841699"/>
            <a:ext cx="5198269" cy="81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47279" y="4979041"/>
            <a:ext cx="3898554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Steps Per Round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7493" y="5579421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simple, repeatable process that builds confidence with every attempt.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7259241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 the end of each round, you receive a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score, a summary of any missed clues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and practical safety reminders to carry into real life.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76873"/>
            <a:ext cx="10754620" cy="101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6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Key Features Designed for You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345653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666" t="0" r="-1266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4491037"/>
            <a:ext cx="3898554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Large Clear 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091408"/>
            <a:ext cx="79745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Easy to read at any screen size — no squinting required.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1108" y="345653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666" r="0" b="-266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1108" y="4491037"/>
            <a:ext cx="3898554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Colour-Coded Clues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5091408"/>
            <a:ext cx="797465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Warning signs are visually highlighted so nothing is missed.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6197794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238" y="7232304"/>
            <a:ext cx="3898554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Plain English Tips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832674"/>
            <a:ext cx="79745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complicated cybersecurity jargon — ever.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1108" y="6197794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332" t="0" r="-5334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21108" y="7232304"/>
            <a:ext cx="3898554" cy="51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Replay Anytime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7832674"/>
            <a:ext cx="797465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Practice as often as you like to build lasting confidence.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74594"/>
            <a:ext cx="5256457" cy="393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6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Why This Game Works for Older Adults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608587"/>
            <a:ext cx="5256457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design is built around how adults aged 50 and above learn best — with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familiar scenarios, no pressure, and warm encouragement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949973" y="1562548"/>
            <a:ext cx="10355161" cy="5867848"/>
            <a:chOff x="0" y="0"/>
            <a:chExt cx="13806881" cy="782379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806932" cy="7823835"/>
            </a:xfrm>
            <a:custGeom>
              <a:avLst/>
              <a:gdLst/>
              <a:ahLst/>
              <a:cxnLst/>
              <a:rect r="r" b="b" t="t" l="l"/>
              <a:pathLst>
                <a:path h="7823835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7823835"/>
                  </a:lnTo>
                  <a:lnTo>
                    <a:pt x="0" y="7823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8044758"/>
            <a:ext cx="76200" cy="1051027"/>
            <a:chOff x="0" y="0"/>
            <a:chExt cx="101600" cy="14013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" cy="1401318"/>
            </a:xfrm>
            <a:custGeom>
              <a:avLst/>
              <a:gdLst/>
              <a:ahLst/>
              <a:cxnLst/>
              <a:rect r="r" b="b" t="t" l="l"/>
              <a:pathLst>
                <a:path h="1401318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401318"/>
                  </a:lnTo>
                  <a:lnTo>
                    <a:pt x="0" y="1401318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51950" y="8054283"/>
            <a:ext cx="3450279" cy="100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Familiar email inbox environment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18497" y="8044758"/>
            <a:ext cx="76200" cy="1051027"/>
            <a:chOff x="0" y="0"/>
            <a:chExt cx="101600" cy="14013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" cy="1401318"/>
            </a:xfrm>
            <a:custGeom>
              <a:avLst/>
              <a:gdLst/>
              <a:ahLst/>
              <a:cxnLst/>
              <a:rect r="r" b="b" t="t" l="l"/>
              <a:pathLst>
                <a:path h="1401318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401318"/>
                  </a:lnTo>
                  <a:lnTo>
                    <a:pt x="0" y="1401318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516318" y="8054283"/>
            <a:ext cx="3450431" cy="100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No time limits or countdowns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3008" y="8044758"/>
            <a:ext cx="76200" cy="1051027"/>
            <a:chOff x="0" y="0"/>
            <a:chExt cx="101600" cy="14013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1401318"/>
            </a:xfrm>
            <a:custGeom>
              <a:avLst/>
              <a:gdLst/>
              <a:ahLst/>
              <a:cxnLst/>
              <a:rect r="r" b="b" t="t" l="l"/>
              <a:pathLst>
                <a:path h="1401318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401318"/>
                  </a:lnTo>
                  <a:lnTo>
                    <a:pt x="0" y="1401318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80819" y="8054283"/>
            <a:ext cx="3450431" cy="100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Realistic, everyday scam examples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47509" y="8044758"/>
            <a:ext cx="76200" cy="1051027"/>
            <a:chOff x="0" y="0"/>
            <a:chExt cx="101600" cy="14013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600" cy="1401318"/>
            </a:xfrm>
            <a:custGeom>
              <a:avLst/>
              <a:gdLst/>
              <a:ahLst/>
              <a:cxnLst/>
              <a:rect r="r" b="b" t="t" l="l"/>
              <a:pathLst>
                <a:path h="1401318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401318"/>
                  </a:lnTo>
                  <a:lnTo>
                    <a:pt x="0" y="1401318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845330" y="8054283"/>
            <a:ext cx="3450431" cy="100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Simple two-button interactions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57217" y="973036"/>
            <a:ext cx="9631556" cy="181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Learn by Doing — Stay Safe for Good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57217" y="3069727"/>
            <a:ext cx="9631556" cy="124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Instead of memorising theory, you learn by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observing, deciding, and improving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Every mistake becomes a lesson. Every round builds stronger cyber-safety habits.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52455" y="4569171"/>
            <a:ext cx="9641091" cy="3021216"/>
            <a:chOff x="0" y="0"/>
            <a:chExt cx="12854788" cy="4028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12841986" cy="4015613"/>
            </a:xfrm>
            <a:custGeom>
              <a:avLst/>
              <a:gdLst/>
              <a:ahLst/>
              <a:cxnLst/>
              <a:rect r="r" b="b" t="t" l="l"/>
              <a:pathLst>
                <a:path h="4015613" w="12841986">
                  <a:moveTo>
                    <a:pt x="0" y="143891"/>
                  </a:moveTo>
                  <a:cubicBezTo>
                    <a:pt x="0" y="64389"/>
                    <a:pt x="64516" y="0"/>
                    <a:pt x="144145" y="0"/>
                  </a:cubicBezTo>
                  <a:lnTo>
                    <a:pt x="12697841" y="0"/>
                  </a:lnTo>
                  <a:cubicBezTo>
                    <a:pt x="12777470" y="0"/>
                    <a:pt x="12841986" y="64389"/>
                    <a:pt x="12841986" y="143891"/>
                  </a:cubicBezTo>
                  <a:lnTo>
                    <a:pt x="12841986" y="3871722"/>
                  </a:lnTo>
                  <a:cubicBezTo>
                    <a:pt x="12841986" y="3951224"/>
                    <a:pt x="12777470" y="4015613"/>
                    <a:pt x="12697841" y="4015613"/>
                  </a:cubicBezTo>
                  <a:lnTo>
                    <a:pt x="144145" y="4015613"/>
                  </a:lnTo>
                  <a:cubicBezTo>
                    <a:pt x="64516" y="4015613"/>
                    <a:pt x="0" y="3951224"/>
                    <a:pt x="0" y="387172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54686" cy="4028313"/>
            </a:xfrm>
            <a:custGeom>
              <a:avLst/>
              <a:gdLst/>
              <a:ahLst/>
              <a:cxnLst/>
              <a:rect r="r" b="b" t="t" l="l"/>
              <a:pathLst>
                <a:path h="4028313" w="12854686">
                  <a:moveTo>
                    <a:pt x="0" y="150241"/>
                  </a:moveTo>
                  <a:cubicBezTo>
                    <a:pt x="0" y="67310"/>
                    <a:pt x="67437" y="0"/>
                    <a:pt x="150495" y="0"/>
                  </a:cubicBezTo>
                  <a:lnTo>
                    <a:pt x="12704191" y="0"/>
                  </a:lnTo>
                  <a:lnTo>
                    <a:pt x="12704191" y="6350"/>
                  </a:lnTo>
                  <a:lnTo>
                    <a:pt x="12704191" y="0"/>
                  </a:lnTo>
                  <a:cubicBezTo>
                    <a:pt x="12787376" y="0"/>
                    <a:pt x="12854686" y="67310"/>
                    <a:pt x="12854686" y="150241"/>
                  </a:cubicBezTo>
                  <a:lnTo>
                    <a:pt x="12848336" y="150241"/>
                  </a:lnTo>
                  <a:lnTo>
                    <a:pt x="12854686" y="150241"/>
                  </a:lnTo>
                  <a:lnTo>
                    <a:pt x="12854686" y="3878072"/>
                  </a:lnTo>
                  <a:lnTo>
                    <a:pt x="12848336" y="3878072"/>
                  </a:lnTo>
                  <a:lnTo>
                    <a:pt x="12854686" y="3878072"/>
                  </a:lnTo>
                  <a:cubicBezTo>
                    <a:pt x="12854686" y="3961003"/>
                    <a:pt x="12787249" y="4028313"/>
                    <a:pt x="12704191" y="4028313"/>
                  </a:cubicBezTo>
                  <a:lnTo>
                    <a:pt x="12704191" y="4021963"/>
                  </a:lnTo>
                  <a:lnTo>
                    <a:pt x="12704191" y="4028313"/>
                  </a:lnTo>
                  <a:lnTo>
                    <a:pt x="150495" y="4028313"/>
                  </a:lnTo>
                  <a:lnTo>
                    <a:pt x="150495" y="4021963"/>
                  </a:lnTo>
                  <a:lnTo>
                    <a:pt x="150495" y="4028313"/>
                  </a:lnTo>
                  <a:cubicBezTo>
                    <a:pt x="67437" y="4028313"/>
                    <a:pt x="0" y="3961003"/>
                    <a:pt x="0" y="3878072"/>
                  </a:cubicBezTo>
                  <a:lnTo>
                    <a:pt x="0" y="150241"/>
                  </a:lnTo>
                  <a:lnTo>
                    <a:pt x="6350" y="150241"/>
                  </a:lnTo>
                  <a:lnTo>
                    <a:pt x="0" y="150241"/>
                  </a:lnTo>
                  <a:moveTo>
                    <a:pt x="12700" y="150241"/>
                  </a:moveTo>
                  <a:lnTo>
                    <a:pt x="12700" y="3878072"/>
                  </a:lnTo>
                  <a:lnTo>
                    <a:pt x="6350" y="3878072"/>
                  </a:lnTo>
                  <a:lnTo>
                    <a:pt x="12700" y="3878072"/>
                  </a:lnTo>
                  <a:cubicBezTo>
                    <a:pt x="12700" y="3954018"/>
                    <a:pt x="74422" y="4015613"/>
                    <a:pt x="150495" y="4015613"/>
                  </a:cubicBezTo>
                  <a:lnTo>
                    <a:pt x="12704191" y="4015613"/>
                  </a:lnTo>
                  <a:cubicBezTo>
                    <a:pt x="12780391" y="4015613"/>
                    <a:pt x="12841986" y="3954018"/>
                    <a:pt x="12841986" y="3878072"/>
                  </a:cubicBezTo>
                  <a:lnTo>
                    <a:pt x="12841986" y="150241"/>
                  </a:lnTo>
                  <a:cubicBezTo>
                    <a:pt x="12841986" y="74295"/>
                    <a:pt x="12780264" y="12700"/>
                    <a:pt x="12704191" y="12700"/>
                  </a:cubicBezTo>
                  <a:lnTo>
                    <a:pt x="150495" y="12700"/>
                  </a:lnTo>
                  <a:lnTo>
                    <a:pt x="150495" y="6350"/>
                  </a:lnTo>
                  <a:lnTo>
                    <a:pt x="150495" y="12700"/>
                  </a:lnTo>
                  <a:cubicBezTo>
                    <a:pt x="74422" y="12700"/>
                    <a:pt x="12700" y="74295"/>
                    <a:pt x="12700" y="150241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766742" y="4583459"/>
            <a:ext cx="4806258" cy="1496320"/>
            <a:chOff x="0" y="0"/>
            <a:chExt cx="6408344" cy="19950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8293" cy="1995043"/>
            </a:xfrm>
            <a:custGeom>
              <a:avLst/>
              <a:gdLst/>
              <a:ahLst/>
              <a:cxnLst/>
              <a:rect r="r" b="b" t="t" l="l"/>
              <a:pathLst>
                <a:path h="1995043" w="6408293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6264402" y="0"/>
                  </a:lnTo>
                  <a:cubicBezTo>
                    <a:pt x="6343904" y="0"/>
                    <a:pt x="6408293" y="64389"/>
                    <a:pt x="6408293" y="143891"/>
                  </a:cubicBezTo>
                  <a:lnTo>
                    <a:pt x="6408293" y="1851152"/>
                  </a:lnTo>
                  <a:cubicBezTo>
                    <a:pt x="6408293" y="1930654"/>
                    <a:pt x="6343904" y="1995043"/>
                    <a:pt x="6264402" y="1995043"/>
                  </a:cubicBezTo>
                  <a:lnTo>
                    <a:pt x="143891" y="1995043"/>
                  </a:lnTo>
                  <a:cubicBezTo>
                    <a:pt x="64389" y="1995043"/>
                    <a:pt x="0" y="1930654"/>
                    <a:pt x="0" y="185115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023622" y="4821288"/>
            <a:ext cx="3533032" cy="47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🔍</a:t>
            </a: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Observe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23622" y="5364366"/>
            <a:ext cx="4292498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Look closely at every email.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573000" y="4583459"/>
            <a:ext cx="4806258" cy="1496320"/>
            <a:chOff x="0" y="0"/>
            <a:chExt cx="6408344" cy="19950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8293" cy="1995043"/>
            </a:xfrm>
            <a:custGeom>
              <a:avLst/>
              <a:gdLst/>
              <a:ahLst/>
              <a:cxnLst/>
              <a:rect r="r" b="b" t="t" l="l"/>
              <a:pathLst>
                <a:path h="1995043" w="6408293">
                  <a:moveTo>
                    <a:pt x="0" y="0"/>
                  </a:moveTo>
                  <a:lnTo>
                    <a:pt x="6408293" y="0"/>
                  </a:lnTo>
                  <a:lnTo>
                    <a:pt x="6408293" y="1995043"/>
                  </a:lnTo>
                  <a:lnTo>
                    <a:pt x="0" y="1995043"/>
                  </a:lnTo>
                  <a:close/>
                </a:path>
              </a:pathLst>
            </a:custGeom>
            <a:solidFill>
              <a:srgbClr val="E0D7F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573000" y="4583459"/>
            <a:ext cx="28575" cy="1496320"/>
            <a:chOff x="0" y="0"/>
            <a:chExt cx="38100" cy="19950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" cy="1995043"/>
            </a:xfrm>
            <a:custGeom>
              <a:avLst/>
              <a:gdLst/>
              <a:ahLst/>
              <a:cxnLst/>
              <a:rect r="r" b="b" t="t" l="l"/>
              <a:pathLst>
                <a:path h="1995043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975993"/>
                  </a:lnTo>
                  <a:cubicBezTo>
                    <a:pt x="38100" y="1986534"/>
                    <a:pt x="29591" y="1995043"/>
                    <a:pt x="19050" y="1995043"/>
                  </a:cubicBezTo>
                  <a:cubicBezTo>
                    <a:pt x="8509" y="1995043"/>
                    <a:pt x="0" y="1986534"/>
                    <a:pt x="0" y="1975993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829880" y="4821288"/>
            <a:ext cx="3533032" cy="47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💡</a:t>
            </a: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Decide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29880" y="5364366"/>
            <a:ext cx="4292498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Choose safely with confidence.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66742" y="6079779"/>
            <a:ext cx="9612506" cy="1496320"/>
            <a:chOff x="0" y="0"/>
            <a:chExt cx="12816675" cy="19950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16713" cy="1995043"/>
            </a:xfrm>
            <a:custGeom>
              <a:avLst/>
              <a:gdLst/>
              <a:ahLst/>
              <a:cxnLst/>
              <a:rect r="r" b="b" t="t" l="l"/>
              <a:pathLst>
                <a:path h="1995043" w="12816713">
                  <a:moveTo>
                    <a:pt x="0" y="0"/>
                  </a:moveTo>
                  <a:lnTo>
                    <a:pt x="12816713" y="0"/>
                  </a:lnTo>
                  <a:lnTo>
                    <a:pt x="12816713" y="1995043"/>
                  </a:lnTo>
                  <a:lnTo>
                    <a:pt x="0" y="1995043"/>
                  </a:lnTo>
                  <a:close/>
                </a:path>
              </a:pathLst>
            </a:custGeom>
            <a:solidFill>
              <a:srgbClr val="E0D7F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766742" y="6079779"/>
            <a:ext cx="9612506" cy="28575"/>
            <a:chOff x="0" y="0"/>
            <a:chExt cx="12816675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16713" cy="38100"/>
            </a:xfrm>
            <a:custGeom>
              <a:avLst/>
              <a:gdLst/>
              <a:ahLst/>
              <a:cxnLst/>
              <a:rect r="r" b="b" t="t" l="l"/>
              <a:pathLst>
                <a:path h="38100" w="1281671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797663" y="0"/>
                  </a:lnTo>
                  <a:cubicBezTo>
                    <a:pt x="12808204" y="0"/>
                    <a:pt x="12816713" y="8509"/>
                    <a:pt x="12816713" y="19050"/>
                  </a:cubicBezTo>
                  <a:cubicBezTo>
                    <a:pt x="12816713" y="29591"/>
                    <a:pt x="12808204" y="38100"/>
                    <a:pt x="1279766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023622" y="6317609"/>
            <a:ext cx="3533032" cy="47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📈</a:t>
            </a: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Improve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23622" y="6860677"/>
            <a:ext cx="9098756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Grow safer with every round.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757217" y="7847562"/>
            <a:ext cx="9631556" cy="1418634"/>
            <a:chOff x="0" y="0"/>
            <a:chExt cx="12842075" cy="189151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42113" cy="1891538"/>
            </a:xfrm>
            <a:custGeom>
              <a:avLst/>
              <a:gdLst/>
              <a:ahLst/>
              <a:cxnLst/>
              <a:rect r="r" b="b" t="t" l="l"/>
              <a:pathLst>
                <a:path h="1891538" w="12842113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12698222" y="0"/>
                  </a:lnTo>
                  <a:cubicBezTo>
                    <a:pt x="12777724" y="0"/>
                    <a:pt x="12842113" y="64389"/>
                    <a:pt x="12842113" y="143891"/>
                  </a:cubicBezTo>
                  <a:lnTo>
                    <a:pt x="12842113" y="1747647"/>
                  </a:lnTo>
                  <a:cubicBezTo>
                    <a:pt x="12842113" y="1827149"/>
                    <a:pt x="12777724" y="1891538"/>
                    <a:pt x="12698222" y="1891538"/>
                  </a:cubicBezTo>
                  <a:lnTo>
                    <a:pt x="143891" y="1891538"/>
                  </a:lnTo>
                  <a:cubicBezTo>
                    <a:pt x="64389" y="1891538"/>
                    <a:pt x="0" y="1827149"/>
                    <a:pt x="0" y="1747647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014097" y="8229448"/>
            <a:ext cx="321173" cy="256880"/>
            <a:chOff x="0" y="0"/>
            <a:chExt cx="428231" cy="342506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428244" cy="342519"/>
            </a:xfrm>
            <a:custGeom>
              <a:avLst/>
              <a:gdLst/>
              <a:ahLst/>
              <a:cxnLst/>
              <a:rect r="r" b="b" t="t" l="l"/>
              <a:pathLst>
                <a:path h="342519" w="428244">
                  <a:moveTo>
                    <a:pt x="0" y="0"/>
                  </a:moveTo>
                  <a:lnTo>
                    <a:pt x="428244" y="0"/>
                  </a:lnTo>
                  <a:lnTo>
                    <a:pt x="428244" y="342519"/>
                  </a:lnTo>
                  <a:lnTo>
                    <a:pt x="0" y="34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8" t="0" r="-355" b="3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8592150" y="8077791"/>
            <a:ext cx="8539763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Remember: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Check sender addresses, never click unknown links, and ignore urgent threats demanding immediate action. You've got this.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DAHJF51STCo</dc:identifier>
  <dcterms:modified xsi:type="dcterms:W3CDTF">2011-08-01T06:04:30Z</dcterms:modified>
  <cp:revision>1</cp:revision>
  <dc:title>Email-Simulation-Game.pptx</dc:title>
</cp:coreProperties>
</file>